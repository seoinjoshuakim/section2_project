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78" r:id="rId3"/>
    <p:sldId id="304" r:id="rId4"/>
    <p:sldId id="288" r:id="rId5"/>
    <p:sldId id="267" r:id="rId6"/>
    <p:sldId id="324" r:id="rId7"/>
    <p:sldId id="325" r:id="rId8"/>
    <p:sldId id="326" r:id="rId9"/>
    <p:sldId id="305" r:id="rId10"/>
    <p:sldId id="327" r:id="rId11"/>
    <p:sldId id="331" r:id="rId12"/>
    <p:sldId id="318" r:id="rId13"/>
    <p:sldId id="329" r:id="rId14"/>
    <p:sldId id="332" r:id="rId15"/>
    <p:sldId id="333" r:id="rId16"/>
    <p:sldId id="334" r:id="rId17"/>
    <p:sldId id="335" r:id="rId18"/>
    <p:sldId id="336" r:id="rId19"/>
    <p:sldId id="339" r:id="rId20"/>
    <p:sldId id="308" r:id="rId21"/>
    <p:sldId id="307" r:id="rId22"/>
    <p:sldId id="337" r:id="rId23"/>
    <p:sldId id="338" r:id="rId24"/>
    <p:sldId id="322" r:id="rId25"/>
    <p:sldId id="323" r:id="rId26"/>
  </p:sldIdLst>
  <p:sldSz cx="9144000" cy="6858000" type="screen4x3"/>
  <p:notesSz cx="6858000" cy="9144000"/>
  <p:embeddedFontLst>
    <p:embeddedFont>
      <p:font typeface="YD윤고딕 520" panose="02020603020101020101" pitchFamily="18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hua Kim" initials="JK" lastIdx="1" clrIdx="0">
    <p:extLst>
      <p:ext uri="{19B8F6BF-5375-455C-9EA6-DF929625EA0E}">
        <p15:presenceInfo xmlns:p15="http://schemas.microsoft.com/office/powerpoint/2012/main" userId="ad8d963fd347a4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9061"/>
    <a:srgbClr val="272123"/>
    <a:srgbClr val="FDA800"/>
    <a:srgbClr val="F2281E"/>
    <a:srgbClr val="7AB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7" autoAdjust="0"/>
    <p:restoredTop sz="96370" autoAdjust="0"/>
  </p:normalViewPr>
  <p:slideViewPr>
    <p:cSldViewPr>
      <p:cViewPr varScale="1">
        <p:scale>
          <a:sx n="114" d="100"/>
          <a:sy n="114" d="100"/>
        </p:scale>
        <p:origin x="198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92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37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812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42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37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45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02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71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87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62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2466-FE76-40E8-BE5D-598A609EDD2B}" type="datetimeFigureOut">
              <a:rPr lang="ko-KR" altLang="en-US" smtClean="0"/>
              <a:t>2022-05-25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EB9E3-907B-4C9E-8669-48B8CFAF9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97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0" y="0"/>
            <a:ext cx="9150883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83568" y="3075057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어떤 요소가 주택 가격에 영향을 미칠까</a:t>
            </a:r>
            <a:r>
              <a:rPr lang="en-US" altLang="ko-KR" sz="32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449" y="3591808"/>
            <a:ext cx="2754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Section</a:t>
            </a:r>
            <a:r>
              <a:rPr lang="ko-KR" altLang="en-US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2</a:t>
            </a:r>
            <a:r>
              <a:rPr lang="ko-KR" altLang="en-US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6318" y="5585231"/>
            <a:ext cx="2754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AI_I Group</a:t>
            </a:r>
            <a:r>
              <a:rPr lang="ko-KR" altLang="en-US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 </a:t>
            </a:r>
            <a:r>
              <a:rPr lang="en-US" altLang="ko-KR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|  </a:t>
            </a:r>
            <a:r>
              <a:rPr lang="ko-KR" altLang="en-US" sz="14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김서인</a:t>
            </a:r>
            <a:endParaRPr lang="en-US" altLang="ko-KR" sz="14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9449" y="2794328"/>
            <a:ext cx="27545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Codestates</a:t>
            </a:r>
            <a:r>
              <a:rPr lang="en-US" altLang="ko-KR" sz="11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AI Bootcamp </a:t>
            </a:r>
          </a:p>
        </p:txBody>
      </p:sp>
    </p:spTree>
    <p:extLst>
      <p:ext uri="{BB962C8B-B14F-4D97-AF65-F5344CB8AC3E}">
        <p14:creationId xmlns:p14="http://schemas.microsoft.com/office/powerpoint/2010/main" val="166833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59" y="2996952"/>
            <a:ext cx="333302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7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581" y="2806047"/>
            <a:ext cx="3333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Section 2 Project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2961697" y="2615886"/>
            <a:ext cx="0" cy="1626228"/>
          </a:xfrm>
          <a:prstGeom prst="line">
            <a:avLst/>
          </a:prstGeom>
          <a:ln>
            <a:solidFill>
              <a:srgbClr val="2721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67619" y="2450648"/>
            <a:ext cx="500753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 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-435778" y="6697496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Codestates</a:t>
            </a:r>
            <a:r>
              <a:rPr lang="en-US" altLang="ko-KR" sz="7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AI Bootcamp 13th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-435778" y="-27384"/>
            <a:ext cx="10015557" cy="165100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7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37617-94CF-4CC0-B20D-C7DC9CFD6A48}"/>
              </a:ext>
            </a:extLst>
          </p:cNvPr>
          <p:cNvSpPr txBox="1"/>
          <p:nvPr/>
        </p:nvSpPr>
        <p:spPr>
          <a:xfrm>
            <a:off x="631842" y="3704544"/>
            <a:ext cx="3333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AI Coding Bootcamp 13th</a:t>
            </a:r>
          </a:p>
        </p:txBody>
      </p:sp>
    </p:spTree>
    <p:extLst>
      <p:ext uri="{BB962C8B-B14F-4D97-AF65-F5344CB8AC3E}">
        <p14:creationId xmlns:p14="http://schemas.microsoft.com/office/powerpoint/2010/main" val="85598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-6883" y="0"/>
            <a:ext cx="9150883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A3C737-5297-4245-A4C1-62C98AE746DC}"/>
              </a:ext>
            </a:extLst>
          </p:cNvPr>
          <p:cNvGrpSpPr/>
          <p:nvPr/>
        </p:nvGrpSpPr>
        <p:grpSpPr>
          <a:xfrm>
            <a:off x="2789218" y="2996951"/>
            <a:ext cx="3159440" cy="873039"/>
            <a:chOff x="3720990" y="3152001"/>
            <a:chExt cx="1710368" cy="827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EED62-4CFB-40F0-BFBC-C4C6CD6F48A1}"/>
                </a:ext>
              </a:extLst>
            </p:cNvPr>
            <p:cNvSpPr txBox="1"/>
            <p:nvPr/>
          </p:nvSpPr>
          <p:spPr>
            <a:xfrm>
              <a:off x="3720990" y="3152001"/>
              <a:ext cx="1710368" cy="5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데이터 </a:t>
              </a:r>
              <a:r>
                <a:rPr lang="ko-KR" altLang="en-US" sz="3000" b="1" dirty="0" err="1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전처리</a:t>
              </a:r>
              <a:endParaRPr lang="en-US" altLang="ko-KR" sz="3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8B8CD-2B2B-4B2B-A0FC-64C6B1082CFC}"/>
                </a:ext>
              </a:extLst>
            </p:cNvPr>
            <p:cNvSpPr txBox="1"/>
            <p:nvPr/>
          </p:nvSpPr>
          <p:spPr>
            <a:xfrm>
              <a:off x="3720990" y="3629471"/>
              <a:ext cx="1710368" cy="350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Data Preprocessing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4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708734" y="818901"/>
            <a:ext cx="1625865" cy="37785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9380" y="863101"/>
            <a:ext cx="1544572" cy="279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확인</a:t>
            </a:r>
            <a:endParaRPr lang="en-US" altLang="ko-KR" sz="1600" b="1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9672" y="5599718"/>
            <a:ext cx="5992089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가격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침실 숫자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화장실 숫자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주거 공간 크기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창고 공간 크기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층수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등급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지어진 연도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15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개의 이웃 주거 공간 평균 등 총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15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 변수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8E8002-E5DD-467F-98BF-36F37307D9EA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603ABF-EFD9-4D56-87B2-2ED44D87D0DB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E62215-9494-D51B-0F17-DA67215AE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311434"/>
            <a:ext cx="3279549" cy="406225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84C779-C382-7817-A102-C259651C9197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직각 삼각형 25">
            <a:extLst>
              <a:ext uri="{FF2B5EF4-FFF2-40B4-BE49-F238E27FC236}">
                <a16:creationId xmlns:a16="http://schemas.microsoft.com/office/drawing/2014/main" id="{4B4F1FB9-D38E-20F6-9DA3-AE7EB02D57D4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B89592-10DD-F5AE-9103-E19D9F086ED4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F70414-2BB7-05FB-2517-BFA0D214D44F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258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갈매기형 수장 14"/>
          <p:cNvSpPr/>
          <p:nvPr/>
        </p:nvSpPr>
        <p:spPr>
          <a:xfrm>
            <a:off x="3298338" y="6199787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6" name="갈매기형 수장 15"/>
          <p:cNvSpPr/>
          <p:nvPr/>
        </p:nvSpPr>
        <p:spPr>
          <a:xfrm>
            <a:off x="3150687" y="6199787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094C13A-44BC-4F6E-8CDC-B1538E1916E3}"/>
              </a:ext>
            </a:extLst>
          </p:cNvPr>
          <p:cNvSpPr txBox="1"/>
          <p:nvPr/>
        </p:nvSpPr>
        <p:spPr>
          <a:xfrm>
            <a:off x="3967473" y="6044774"/>
            <a:ext cx="23762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로그 변환으로 정규분포화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4AAAA1-1BEF-2E90-20B7-7C511382A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8" y="1380247"/>
            <a:ext cx="3384376" cy="23042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C93E41-3536-C48D-DF23-AA692D72A8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99"/>
          <a:stretch/>
        </p:blipFill>
        <p:spPr>
          <a:xfrm>
            <a:off x="4834424" y="1189896"/>
            <a:ext cx="4448796" cy="25802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668F2C-6C65-EF1C-3EAC-E74120B444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" b="63309"/>
          <a:stretch/>
        </p:blipFill>
        <p:spPr>
          <a:xfrm>
            <a:off x="2468545" y="3810851"/>
            <a:ext cx="4402190" cy="20447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0B98A1-B097-F7F0-1F4D-789BCB0CBA53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65B07E-D5A9-C6DA-B5C4-75246E1475BC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CF127D-64D1-8D2D-5BE8-DBC0BAB23303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1EF3F-CAAA-1DC2-E855-E2D6F24C2581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FC0312-DC66-0328-E574-177EEEB8FE85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0899596-A49B-AE24-D5D4-91A254418D20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직각 삼각형 31">
            <a:extLst>
              <a:ext uri="{FF2B5EF4-FFF2-40B4-BE49-F238E27FC236}">
                <a16:creationId xmlns:a16="http://schemas.microsoft.com/office/drawing/2014/main" id="{BB4A8B5F-015C-FBB6-8CD7-71891A1C2B9D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CE4DF-5760-5299-6B82-E10FBBE30BF7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B4C23A-C704-A30B-5478-D19B9645E93B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4500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03648" y="4221088"/>
            <a:ext cx="5992089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training/test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세트를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80%, 20%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으로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나누기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거기서 다시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training/validation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세트를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80%, 20%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로 나누기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DA67389-A4B4-8037-1411-E47B6A39A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91" y="2060848"/>
            <a:ext cx="7573432" cy="17528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D433D1-112D-3470-E0EB-F6D3192571D2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7D21A6-9C4A-1C9D-A741-B3612507B149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B8D42C-77EB-A429-5DBA-22E3FEEC1D0E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861E26-CD1B-B420-B4AA-B39CD2FF9C61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A80CFE-B642-6184-BB8F-1CFC0A1480A8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44E102C-2BA6-7F48-A9D9-9B3208F60530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6F5545A2-FEF8-F169-584F-DACAF6A77232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906680-D546-3013-B973-40AC07AF7D69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12C37A-6978-0C41-9D49-539B03B3E4C3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799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-9283" y="134076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9" name="직각 삼각형 8"/>
          <p:cNvSpPr/>
          <p:nvPr/>
        </p:nvSpPr>
        <p:spPr>
          <a:xfrm rot="5400000">
            <a:off x="702755" y="166985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2B31B3-DDD2-BE14-8A52-38C37D5CB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69"/>
          <a:stretch/>
        </p:blipFill>
        <p:spPr>
          <a:xfrm>
            <a:off x="1887308" y="947512"/>
            <a:ext cx="5145598" cy="34508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00335B-6C35-005D-0D07-5E4E335AD747}"/>
              </a:ext>
            </a:extLst>
          </p:cNvPr>
          <p:cNvSpPr txBox="1"/>
          <p:nvPr/>
        </p:nvSpPr>
        <p:spPr>
          <a:xfrm>
            <a:off x="1937162" y="4797152"/>
            <a:ext cx="5992089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상관계수 기준으로 설명력 높은 상위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12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개만 사용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E5898-40C4-1341-0FF9-935BB0310C80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927A78-1C0F-F9EC-9E00-D6D0B05ECDF5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F7D3BF-4D95-98E8-9296-2829CD5EB72E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45CD3E-1DD6-3657-D921-ACA1CD2EEF8F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8C4B4C-3A37-0B8B-B14D-48963E91AFC8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70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00335B-6C35-005D-0D07-5E4E335AD747}"/>
              </a:ext>
            </a:extLst>
          </p:cNvPr>
          <p:cNvSpPr txBox="1"/>
          <p:nvPr/>
        </p:nvSpPr>
        <p:spPr>
          <a:xfrm>
            <a:off x="1376420" y="5594034"/>
            <a:ext cx="5992089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선형 패턴이 존재하고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잔차가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정규분포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r2 score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0.7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이상으로 회귀분석이 유의함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937AF0-2264-6612-13F9-4CFD948D0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24" y="875398"/>
            <a:ext cx="6372200" cy="42144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1B02C6A-7913-B9A2-7250-2C870CE8E48D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9D246D-48FA-91C9-09A2-5ED3B75D2BD8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50B8F6-0B90-9307-4A36-40D124C43CE0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74DFFB-DF00-DCA7-00F4-23EB8E23A0DD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FFAC13-39B5-F85B-6AFB-57598EE0BCC9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CA4100C-201B-3D70-C2B4-62406E6404C7}"/>
              </a:ext>
            </a:extLst>
          </p:cNvPr>
          <p:cNvSpPr/>
          <p:nvPr/>
        </p:nvSpPr>
        <p:spPr>
          <a:xfrm>
            <a:off x="-9283" y="134076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직각 삼각형 31">
            <a:extLst>
              <a:ext uri="{FF2B5EF4-FFF2-40B4-BE49-F238E27FC236}">
                <a16:creationId xmlns:a16="http://schemas.microsoft.com/office/drawing/2014/main" id="{7BDB373F-EBD3-B139-1EB3-DFC73A596DAC}"/>
              </a:ext>
            </a:extLst>
          </p:cNvPr>
          <p:cNvSpPr/>
          <p:nvPr/>
        </p:nvSpPr>
        <p:spPr>
          <a:xfrm rot="5400000">
            <a:off x="702755" y="166985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A79F1-B8BB-500C-121A-EA96AF34D9DB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6FEF0F-9C97-4946-CA72-E6977A7B27CA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63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-6883" y="0"/>
            <a:ext cx="9150883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A3C737-5297-4245-A4C1-62C98AE746DC}"/>
              </a:ext>
            </a:extLst>
          </p:cNvPr>
          <p:cNvGrpSpPr/>
          <p:nvPr/>
        </p:nvGrpSpPr>
        <p:grpSpPr>
          <a:xfrm>
            <a:off x="2789218" y="2996951"/>
            <a:ext cx="3159440" cy="873039"/>
            <a:chOff x="3720990" y="3152001"/>
            <a:chExt cx="1710368" cy="827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EED62-4CFB-40F0-BFBC-C4C6CD6F48A1}"/>
                </a:ext>
              </a:extLst>
            </p:cNvPr>
            <p:cNvSpPr txBox="1"/>
            <p:nvPr/>
          </p:nvSpPr>
          <p:spPr>
            <a:xfrm>
              <a:off x="3720990" y="3152001"/>
              <a:ext cx="1710368" cy="5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모델 기준</a:t>
              </a:r>
              <a:endParaRPr lang="en-US" altLang="ko-KR" sz="3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8B8CD-2B2B-4B2B-A0FC-64C6B1082CFC}"/>
                </a:ext>
              </a:extLst>
            </p:cNvPr>
            <p:cNvSpPr txBox="1"/>
            <p:nvPr/>
          </p:nvSpPr>
          <p:spPr>
            <a:xfrm>
              <a:off x="3720990" y="3629471"/>
              <a:ext cx="1710368" cy="350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Model Setting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12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0" name="직각 삼각형 9"/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5F94E2-BCA3-C509-817A-0BA7219602D4}"/>
              </a:ext>
            </a:extLst>
          </p:cNvPr>
          <p:cNvSpPr txBox="1"/>
          <p:nvPr/>
        </p:nvSpPr>
        <p:spPr>
          <a:xfrm>
            <a:off x="1258392" y="759475"/>
            <a:ext cx="599208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사용 모델 종류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릿지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회귀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K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군집 회귀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랜덤포레스트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회귀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BD0984-0DF6-77E2-6F40-AF3FF46B812D}"/>
              </a:ext>
            </a:extLst>
          </p:cNvPr>
          <p:cNvSpPr txBox="1"/>
          <p:nvPr/>
        </p:nvSpPr>
        <p:spPr>
          <a:xfrm>
            <a:off x="1288395" y="2763303"/>
            <a:ext cx="599208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분석 지표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 (MAE)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 절대오차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Cross validation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training set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에서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dataset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을 나누어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계산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의 평균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ex&gt; 5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개의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sample mean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Pdp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interaction, </a:t>
            </a:r>
            <a:r>
              <a:rPr lang="en-US" altLang="ko-KR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shap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분석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9E56A-8E69-C259-61A8-E5479E50DE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438" y="4204755"/>
            <a:ext cx="3487098" cy="24153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A25E82-9EFF-21B1-6AF7-7B262B504C5C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161C94-A455-03C7-77D6-8492FCC07450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CBAACD-14D3-1805-3E0E-B81986113434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EAA5D6-255E-5D77-0A48-EE16D91C2541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D31DB4-D66D-4AD1-22E8-D61B8AD19277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072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5F94E2-BCA3-C509-817A-0BA7219602D4}"/>
              </a:ext>
            </a:extLst>
          </p:cNvPr>
          <p:cNvSpPr txBox="1"/>
          <p:nvPr/>
        </p:nvSpPr>
        <p:spPr>
          <a:xfrm>
            <a:off x="1376420" y="1675075"/>
            <a:ext cx="599208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기준 모델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타겟 변수인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Price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의 평균을 계산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예측 값을 실제 값에서 실제 값의 개수만큼 나눈 것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0.406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3DB7AB-861E-908D-F097-BD92B82DAB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47" y="3830062"/>
            <a:ext cx="3657679" cy="1646148"/>
          </a:xfrm>
          <a:prstGeom prst="rect">
            <a:avLst/>
          </a:prstGeom>
        </p:spPr>
      </p:pic>
      <p:sp>
        <p:nvSpPr>
          <p:cNvPr id="26" name="갈매기형 수장 14">
            <a:extLst>
              <a:ext uri="{FF2B5EF4-FFF2-40B4-BE49-F238E27FC236}">
                <a16:creationId xmlns:a16="http://schemas.microsoft.com/office/drawing/2014/main" id="{AE99D232-3329-A258-443E-01B0D41796D1}"/>
              </a:ext>
            </a:extLst>
          </p:cNvPr>
          <p:cNvSpPr/>
          <p:nvPr/>
        </p:nvSpPr>
        <p:spPr>
          <a:xfrm>
            <a:off x="1191259" y="330317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갈매기형 수장 15">
            <a:extLst>
              <a:ext uri="{FF2B5EF4-FFF2-40B4-BE49-F238E27FC236}">
                <a16:creationId xmlns:a16="http://schemas.microsoft.com/office/drawing/2014/main" id="{2355B363-4A2B-DF35-81B1-94A9A005E92D}"/>
              </a:ext>
            </a:extLst>
          </p:cNvPr>
          <p:cNvSpPr/>
          <p:nvPr/>
        </p:nvSpPr>
        <p:spPr>
          <a:xfrm>
            <a:off x="1043608" y="3303176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0A62D6-930E-094D-3DD3-B25EB6356A5E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A66B33-8BB0-BA52-3609-F6E2EC004AF2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BBA65D-3849-890C-1C3C-90A3723902ED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F69922-D4AD-9E07-AEE4-3F3F4C53C428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F860FA-F144-73D1-E69B-C86D9379EB85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A3FACC-F34E-7979-7FAF-AAE69D6FEDA5}"/>
              </a:ext>
            </a:extLst>
          </p:cNvPr>
          <p:cNvSpPr/>
          <p:nvPr/>
        </p:nvSpPr>
        <p:spPr>
          <a:xfrm>
            <a:off x="-9283" y="134076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419A1502-3B71-2496-E3E6-A6117B9D0E2F}"/>
              </a:ext>
            </a:extLst>
          </p:cNvPr>
          <p:cNvSpPr/>
          <p:nvPr/>
        </p:nvSpPr>
        <p:spPr>
          <a:xfrm rot="5400000">
            <a:off x="702755" y="1669856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1C09B4-C031-982E-1C16-8D0FC941DF08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2F4483-4258-B901-9B29-77968B9943C7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4823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-6883" y="0"/>
            <a:ext cx="9150883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A3C737-5297-4245-A4C1-62C98AE746DC}"/>
              </a:ext>
            </a:extLst>
          </p:cNvPr>
          <p:cNvGrpSpPr/>
          <p:nvPr/>
        </p:nvGrpSpPr>
        <p:grpSpPr>
          <a:xfrm>
            <a:off x="2965387" y="2996951"/>
            <a:ext cx="3159440" cy="873039"/>
            <a:chOff x="3720990" y="3152001"/>
            <a:chExt cx="1710368" cy="827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EED62-4CFB-40F0-BFBC-C4C6CD6F48A1}"/>
                </a:ext>
              </a:extLst>
            </p:cNvPr>
            <p:cNvSpPr txBox="1"/>
            <p:nvPr/>
          </p:nvSpPr>
          <p:spPr>
            <a:xfrm>
              <a:off x="3720990" y="3152001"/>
              <a:ext cx="1710368" cy="5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모델 실행</a:t>
              </a:r>
              <a:endParaRPr lang="en-US" altLang="ko-KR" sz="3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8B8CD-2B2B-4B2B-A0FC-64C6B1082CFC}"/>
                </a:ext>
              </a:extLst>
            </p:cNvPr>
            <p:cNvSpPr txBox="1"/>
            <p:nvPr/>
          </p:nvSpPr>
          <p:spPr>
            <a:xfrm>
              <a:off x="3720990" y="3629471"/>
              <a:ext cx="1710368" cy="350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Model implementation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977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331451" y="818901"/>
            <a:ext cx="2380430" cy="37785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90962" y="863101"/>
            <a:ext cx="2261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Ridge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0661" y="4044827"/>
            <a:ext cx="5902009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릿지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회귀함수는 특성변수가 많을 때 과적합이 일어날 수 있어서 특성 변수정규화를 하는 선형회귀 모델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Alpha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 크면 변수의 계수가 줄어들어 변수에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penalty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 생김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과적합을 피하려고 할 때 주로 사용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alpha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는 몇 일지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그리고 평균절대오차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는 몇 일지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538E49-0138-B0A9-2DC2-18AA0F250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741" y="1394422"/>
            <a:ext cx="3519373" cy="23462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93D52D-BBA3-644B-0B95-43E3CAAF9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24" y="1505811"/>
            <a:ext cx="3851260" cy="193132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A877351-FEBD-3124-CA66-D399C22568D5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F96FF-88A5-24F3-E534-38789C77B14F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219DA-C959-938A-C4AE-26325914134A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93EB5F-AC1C-3567-CCDA-8C6692D6AD35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51067-630D-CFA4-92FD-48F4A405ADCF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C0A77F1-BFCE-66E4-74C0-085FFBDCC89E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1" name="직각 삼각형 40">
            <a:extLst>
              <a:ext uri="{FF2B5EF4-FFF2-40B4-BE49-F238E27FC236}">
                <a16:creationId xmlns:a16="http://schemas.microsoft.com/office/drawing/2014/main" id="{F87E2EB3-B5EB-5729-DEF5-19FD473189EB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713E6A-3014-8460-0CD1-B989C1D69489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E3521B-35D5-22C8-0247-7B50D9F04BF8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1658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5F94E2-BCA3-C509-817A-0BA7219602D4}"/>
              </a:ext>
            </a:extLst>
          </p:cNvPr>
          <p:cNvSpPr txBox="1"/>
          <p:nvPr/>
        </p:nvSpPr>
        <p:spPr>
          <a:xfrm>
            <a:off x="2195736" y="882386"/>
            <a:ext cx="599208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Alpha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값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0.001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가장 낮은 페널티 부여하여 계수를 최대한 사용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Training set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0.249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기준 모델인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0.406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보다 크게 낮춤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Test set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0.246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Cross validation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0.250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큰 차이가 없음을 확인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갈매기형 수장 14">
            <a:extLst>
              <a:ext uri="{FF2B5EF4-FFF2-40B4-BE49-F238E27FC236}">
                <a16:creationId xmlns:a16="http://schemas.microsoft.com/office/drawing/2014/main" id="{AE99D232-3329-A258-443E-01B0D41796D1}"/>
              </a:ext>
            </a:extLst>
          </p:cNvPr>
          <p:cNvSpPr/>
          <p:nvPr/>
        </p:nvSpPr>
        <p:spPr>
          <a:xfrm>
            <a:off x="1282346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갈매기형 수장 15">
            <a:extLst>
              <a:ext uri="{FF2B5EF4-FFF2-40B4-BE49-F238E27FC236}">
                <a16:creationId xmlns:a16="http://schemas.microsoft.com/office/drawing/2014/main" id="{2355B363-4A2B-DF35-81B1-94A9A005E92D}"/>
              </a:ext>
            </a:extLst>
          </p:cNvPr>
          <p:cNvSpPr/>
          <p:nvPr/>
        </p:nvSpPr>
        <p:spPr>
          <a:xfrm>
            <a:off x="1134695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283139-5D0F-95E9-0FE5-36A2039C330B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B5643-1D78-6FB7-6CC3-0CE58BA7EBE4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D7232F-CA75-93A2-28AF-E4742F92B05D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BA8C0A-AFE8-973A-970A-381067B67551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B75C9-9CA6-DA76-525D-8C83F3683EC0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21DA0E-516D-A504-E4D0-94CF0168952A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4336E03-A85F-6C28-4743-8BCA36CCE236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B1BE465B-84A2-5B22-087D-CF45A614863B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434783-E18F-A157-70A7-C8A69B24D78D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D01A79-7294-EC8C-BA82-EACFCD2DAE29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7774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3116465" y="827290"/>
            <a:ext cx="2880320" cy="37785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1570" y="863101"/>
            <a:ext cx="2693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K neighborhood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0661" y="4044827"/>
            <a:ext cx="5902009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거리 공식을 이용해 이웃들의 가중 평균을 계산하는 방식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이웃의 개수를 정할 수 있음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과적합을 피할 수 있음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표본이 많이 없는 구간에 대한 민감도 줄일 수 있음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이웃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k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개수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그리고 평균절대오차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는 몇 일지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6325098-9705-3837-27CB-E10C8F130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1" t="3232" r="8164" b="50000"/>
          <a:stretch/>
        </p:blipFill>
        <p:spPr>
          <a:xfrm>
            <a:off x="1642131" y="1340768"/>
            <a:ext cx="5698524" cy="233031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033FE99-EAD9-DBA4-B31D-7DC203048E94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29D6D-EA5B-0811-0458-0820FC589D0C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7D73-CF30-A667-5BB1-B20D927C5BE7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76B2DB-690A-7D30-DA6C-5F706AA7B23B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CD6C85-EA44-82C1-91FD-86803AF622EB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755DC2-536C-BF76-B96B-E24A7560DEFB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13B6CA-CDA5-D238-709F-0F8187C6E994}"/>
              </a:ext>
            </a:extLst>
          </p:cNvPr>
          <p:cNvSpPr/>
          <p:nvPr/>
        </p:nvSpPr>
        <p:spPr>
          <a:xfrm>
            <a:off x="-9283" y="131810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직각 삼각형 34">
            <a:extLst>
              <a:ext uri="{FF2B5EF4-FFF2-40B4-BE49-F238E27FC236}">
                <a16:creationId xmlns:a16="http://schemas.microsoft.com/office/drawing/2014/main" id="{813E850E-8459-F7F7-B946-CE26746B8A8F}"/>
              </a:ext>
            </a:extLst>
          </p:cNvPr>
          <p:cNvSpPr/>
          <p:nvPr/>
        </p:nvSpPr>
        <p:spPr>
          <a:xfrm rot="5400000">
            <a:off x="702755" y="1648182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F55835-4C55-F07A-16D8-E894732315DB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A73BB2-F99E-F752-E96D-426D4F8F7C3E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6513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5F94E2-BCA3-C509-817A-0BA7219602D4}"/>
              </a:ext>
            </a:extLst>
          </p:cNvPr>
          <p:cNvSpPr txBox="1"/>
          <p:nvPr/>
        </p:nvSpPr>
        <p:spPr>
          <a:xfrm>
            <a:off x="2267744" y="1206913"/>
            <a:ext cx="599208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K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값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5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5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개의 이웃일 때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error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가 가장 낮음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Training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0.199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기준 모델인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0.406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보다 크게 낮춤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Test set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0.252</a:t>
            </a: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Cross validation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0.260</a:t>
            </a:r>
          </a:p>
        </p:txBody>
      </p:sp>
      <p:sp>
        <p:nvSpPr>
          <p:cNvPr id="26" name="갈매기형 수장 14">
            <a:extLst>
              <a:ext uri="{FF2B5EF4-FFF2-40B4-BE49-F238E27FC236}">
                <a16:creationId xmlns:a16="http://schemas.microsoft.com/office/drawing/2014/main" id="{AE99D232-3329-A258-443E-01B0D41796D1}"/>
              </a:ext>
            </a:extLst>
          </p:cNvPr>
          <p:cNvSpPr/>
          <p:nvPr/>
        </p:nvSpPr>
        <p:spPr>
          <a:xfrm>
            <a:off x="1282346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갈매기형 수장 15">
            <a:extLst>
              <a:ext uri="{FF2B5EF4-FFF2-40B4-BE49-F238E27FC236}">
                <a16:creationId xmlns:a16="http://schemas.microsoft.com/office/drawing/2014/main" id="{2355B363-4A2B-DF35-81B1-94A9A005E92D}"/>
              </a:ext>
            </a:extLst>
          </p:cNvPr>
          <p:cNvSpPr/>
          <p:nvPr/>
        </p:nvSpPr>
        <p:spPr>
          <a:xfrm>
            <a:off x="1134695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ADD060-7C03-02A8-4671-225DA15E429D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07E95-0385-4352-3502-5EC539A7FCE7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A35E25-F7A4-CE46-BECE-B0D43D296748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8C26F-A82D-CF4A-D468-DA4A5E5E3097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1F0121-BEEF-297D-E1D6-C27C738DA9C4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9F5B2F-EA9A-2F86-B6EC-0535D50D4E1F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36DCC5-D71E-5766-88CA-97ED65F944D8}"/>
              </a:ext>
            </a:extLst>
          </p:cNvPr>
          <p:cNvSpPr/>
          <p:nvPr/>
        </p:nvSpPr>
        <p:spPr>
          <a:xfrm>
            <a:off x="-9283" y="131810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9" name="직각 삼각형 38">
            <a:extLst>
              <a:ext uri="{FF2B5EF4-FFF2-40B4-BE49-F238E27FC236}">
                <a16:creationId xmlns:a16="http://schemas.microsoft.com/office/drawing/2014/main" id="{B323F426-F70F-708A-87A3-46EFFA04847B}"/>
              </a:ext>
            </a:extLst>
          </p:cNvPr>
          <p:cNvSpPr/>
          <p:nvPr/>
        </p:nvSpPr>
        <p:spPr>
          <a:xfrm rot="5400000">
            <a:off x="702755" y="1648182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43EA04-161B-F8D5-8A30-97280598FBF6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E960C7-B199-1486-2553-02F46EE87066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898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3588589-8BF1-48DB-743C-5493C7B3D844}"/>
              </a:ext>
            </a:extLst>
          </p:cNvPr>
          <p:cNvSpPr/>
          <p:nvPr/>
        </p:nvSpPr>
        <p:spPr>
          <a:xfrm>
            <a:off x="-9283" y="1805386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55EEE282-8569-9B6F-2A5E-0414A6E062F0}"/>
              </a:ext>
            </a:extLst>
          </p:cNvPr>
          <p:cNvSpPr/>
          <p:nvPr/>
        </p:nvSpPr>
        <p:spPr>
          <a:xfrm rot="5400000">
            <a:off x="702755" y="2135460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16465" y="827290"/>
            <a:ext cx="2880320" cy="37785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1570" y="863101"/>
            <a:ext cx="2693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Randomforest</a:t>
            </a:r>
            <a:r>
              <a:rPr lang="en-US" altLang="ko-KR" sz="16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0661" y="4044827"/>
            <a:ext cx="5902009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의사결정나무 회귀는 비용함수를 가장 줄여주는 계수를 찾아준다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그 의사결정나무 회귀의 평균값 구하는 과정이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랜덤포레스트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방법이다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정확도가 상승할 가능성이 높으나 직관적인 설명력은 떨어지는 모델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estimator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parameter,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그리고 평균절대오차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score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는 몇 일지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311E75D-8F2B-DE42-CA6C-D4BBC7BDC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451617"/>
            <a:ext cx="4048125" cy="24907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F636FC5-CA00-422C-C67A-0B4525275088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AF4A27-4E9C-B788-DB13-8CF85EB0A660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3ADF6-ABCD-90A0-8F0C-F98DA12864EA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CC643C-6102-9B26-9F18-98416A1BD9BB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89B2BB-E1F4-704A-10AC-0B21EBE04B01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9A0AF6-8F79-8A89-4896-87ACA23B7D79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AF6239-EBC8-FAC0-3165-AC6B3ECA5867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066839-AC5E-469C-F19A-973C2E498B07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287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5F94E2-BCA3-C509-817A-0BA7219602D4}"/>
              </a:ext>
            </a:extLst>
          </p:cNvPr>
          <p:cNvSpPr txBox="1"/>
          <p:nvPr/>
        </p:nvSpPr>
        <p:spPr>
          <a:xfrm>
            <a:off x="2195736" y="1058539"/>
            <a:ext cx="599208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최적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parameter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값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Max depth none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N_estimator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454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Max features 0.644</a:t>
            </a: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Training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0.217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기준 모델인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0.406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보다 크게 낮춤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Test set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0.226</a:t>
            </a:r>
          </a:p>
          <a:p>
            <a:pPr algn="just">
              <a:lnSpc>
                <a:spcPct val="150000"/>
              </a:lnSpc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Cross validation MAE(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0.252</a:t>
            </a:r>
          </a:p>
        </p:txBody>
      </p:sp>
      <p:sp>
        <p:nvSpPr>
          <p:cNvPr id="26" name="갈매기형 수장 14">
            <a:extLst>
              <a:ext uri="{FF2B5EF4-FFF2-40B4-BE49-F238E27FC236}">
                <a16:creationId xmlns:a16="http://schemas.microsoft.com/office/drawing/2014/main" id="{AE99D232-3329-A258-443E-01B0D41796D1}"/>
              </a:ext>
            </a:extLst>
          </p:cNvPr>
          <p:cNvSpPr/>
          <p:nvPr/>
        </p:nvSpPr>
        <p:spPr>
          <a:xfrm>
            <a:off x="1282346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갈매기형 수장 15">
            <a:extLst>
              <a:ext uri="{FF2B5EF4-FFF2-40B4-BE49-F238E27FC236}">
                <a16:creationId xmlns:a16="http://schemas.microsoft.com/office/drawing/2014/main" id="{2355B363-4A2B-DF35-81B1-94A9A005E92D}"/>
              </a:ext>
            </a:extLst>
          </p:cNvPr>
          <p:cNvSpPr/>
          <p:nvPr/>
        </p:nvSpPr>
        <p:spPr>
          <a:xfrm>
            <a:off x="1134695" y="2749178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AEFC9-7CD7-AED4-FFA1-BD2B31285878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CF1E6C-0A38-D652-8B92-3F24ADE940B2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BECD50-9CBE-C09E-7F4D-8424FB41EA78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BC1DD0-4154-1595-017C-CEBA1F993992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DB221-F342-443C-B6C6-5483509640DC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5A4A60-111D-E6C4-0BCE-F7D48EE9B940}"/>
              </a:ext>
            </a:extLst>
          </p:cNvPr>
          <p:cNvSpPr/>
          <p:nvPr/>
        </p:nvSpPr>
        <p:spPr>
          <a:xfrm>
            <a:off x="-9283" y="1805386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직각 삼각형 32">
            <a:extLst>
              <a:ext uri="{FF2B5EF4-FFF2-40B4-BE49-F238E27FC236}">
                <a16:creationId xmlns:a16="http://schemas.microsoft.com/office/drawing/2014/main" id="{5EA81BAE-F44E-30F5-C934-FE8CB422C259}"/>
              </a:ext>
            </a:extLst>
          </p:cNvPr>
          <p:cNvSpPr/>
          <p:nvPr/>
        </p:nvSpPr>
        <p:spPr>
          <a:xfrm rot="5400000">
            <a:off x="702755" y="2135460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38757B-C177-FF20-CACF-04CEA804592C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595E08-100E-70D5-767B-5281B4FD39C8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00A1F8-BF33-62BF-A25F-09193CB19A53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840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-6883" y="0"/>
            <a:ext cx="9150883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A3C737-5297-4245-A4C1-62C98AE746DC}"/>
              </a:ext>
            </a:extLst>
          </p:cNvPr>
          <p:cNvGrpSpPr/>
          <p:nvPr/>
        </p:nvGrpSpPr>
        <p:grpSpPr>
          <a:xfrm>
            <a:off x="2965387" y="2996951"/>
            <a:ext cx="3159440" cy="873039"/>
            <a:chOff x="3720990" y="3152001"/>
            <a:chExt cx="1710368" cy="827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EED62-4CFB-40F0-BFBC-C4C6CD6F48A1}"/>
                </a:ext>
              </a:extLst>
            </p:cNvPr>
            <p:cNvSpPr txBox="1"/>
            <p:nvPr/>
          </p:nvSpPr>
          <p:spPr>
            <a:xfrm>
              <a:off x="3720990" y="3152001"/>
              <a:ext cx="1710368" cy="5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모델 해석</a:t>
              </a:r>
              <a:endParaRPr lang="en-US" altLang="ko-KR" sz="3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8B8CD-2B2B-4B2B-A0FC-64C6B1082CFC}"/>
                </a:ext>
              </a:extLst>
            </p:cNvPr>
            <p:cNvSpPr txBox="1"/>
            <p:nvPr/>
          </p:nvSpPr>
          <p:spPr>
            <a:xfrm>
              <a:off x="3720990" y="3629471"/>
              <a:ext cx="1710368" cy="350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Model interpretation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60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FFAE8DB9-76C0-BCD9-32B3-4C0D15BC01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18" t="33513" r="7546" b="50000"/>
          <a:stretch/>
        </p:blipFill>
        <p:spPr>
          <a:xfrm>
            <a:off x="1346695" y="1340768"/>
            <a:ext cx="6721527" cy="23428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FF427CE-0346-0E87-31AB-BF56BE455C8D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EE2852-E711-F8C5-822B-A4FC774BB27B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B18185-3BC6-53F7-1D1F-62CE56BA7ED4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9407D9-3310-879D-1F58-2F6F7AEF71A0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C1A01A-1DD9-0A3F-4D56-EAC40A704997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2F4BD9-6A30-E49E-D296-EF74CD762970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9E5FCA1-084D-5086-2E8B-99B492B7B167}"/>
              </a:ext>
            </a:extLst>
          </p:cNvPr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직각 삼각형 34">
            <a:extLst>
              <a:ext uri="{FF2B5EF4-FFF2-40B4-BE49-F238E27FC236}">
                <a16:creationId xmlns:a16="http://schemas.microsoft.com/office/drawing/2014/main" id="{51A955AB-FF97-D1D0-A37B-7C5F61541FB1}"/>
              </a:ext>
            </a:extLst>
          </p:cNvPr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671174-86A9-A3F4-B36D-D9EC7B004859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5AEAE6-7262-F357-92F6-200F9BA2E10E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A41489-C0D3-7AD0-B98C-AA64F0B7C075}"/>
              </a:ext>
            </a:extLst>
          </p:cNvPr>
          <p:cNvSpPr txBox="1"/>
          <p:nvPr/>
        </p:nvSpPr>
        <p:spPr>
          <a:xfrm>
            <a:off x="1763688" y="4378458"/>
            <a:ext cx="62135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특성값의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중요도를 보여주는 순열중요도 확인 결과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주택 등급 점수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연식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이웃 주거 면적 평균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주거 면적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순으로 중요도가 높았음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69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CC06D4-FDD1-ED9E-B779-BD9306BD3D2C}"/>
              </a:ext>
            </a:extLst>
          </p:cNvPr>
          <p:cNvSpPr txBox="1"/>
          <p:nvPr/>
        </p:nvSpPr>
        <p:spPr>
          <a:xfrm>
            <a:off x="1619672" y="4580453"/>
            <a:ext cx="621355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PDP: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예측모델을 만들었을 때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어떤 특성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(feature)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이 예측모델의 </a:t>
            </a: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타겟변수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(target variable)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에 어떤 영향을 미쳤는지 알기 위한 그래프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Grade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점수와 가격은 양의 선형 관계가 있으며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7-9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점 사이에서 가격이 특히 많이 오름을 알 수 있다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232CF2-4018-C7E8-0DB9-6262015BC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609" y="645341"/>
            <a:ext cx="5843186" cy="372686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4509B1A-A8F8-A6E6-990C-4AB379DED707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E2E502-36B9-B8BE-9F14-C6E739D2DD05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9DE0ED-644A-7B99-E293-455D7E71F75C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F6CE70-209E-362C-6D37-91CE0E74CD3A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88BD03-9A8A-B97A-CF9A-EE933E909CDC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965583-F021-B2A1-303C-1205A571F7F7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2CA0DC-400B-FE6D-4700-478374A47562}"/>
              </a:ext>
            </a:extLst>
          </p:cNvPr>
          <p:cNvSpPr/>
          <p:nvPr/>
        </p:nvSpPr>
        <p:spPr>
          <a:xfrm>
            <a:off x="-9283" y="131810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직각 삼각형 34">
            <a:extLst>
              <a:ext uri="{FF2B5EF4-FFF2-40B4-BE49-F238E27FC236}">
                <a16:creationId xmlns:a16="http://schemas.microsoft.com/office/drawing/2014/main" id="{4F6BACD2-4C0C-BB49-533E-CC519391D30C}"/>
              </a:ext>
            </a:extLst>
          </p:cNvPr>
          <p:cNvSpPr/>
          <p:nvPr/>
        </p:nvSpPr>
        <p:spPr>
          <a:xfrm rot="5400000">
            <a:off x="702755" y="1648182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7DC1C2-B6C8-B497-0ACC-E3608814F491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449C13-996B-748B-ED2C-2A8C4863EF05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2115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CC06D4-FDD1-ED9E-B779-BD9306BD3D2C}"/>
              </a:ext>
            </a:extLst>
          </p:cNvPr>
          <p:cNvSpPr txBox="1"/>
          <p:nvPr/>
        </p:nvSpPr>
        <p:spPr>
          <a:xfrm>
            <a:off x="1692847" y="4770490"/>
            <a:ext cx="648071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주택 등급 점수와 주거공간 크기 상호작용효과가 존재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두 가지 특성 요소가 동시에 작용했을 때 종속변수에 영향을 주는 것으로 등급이 좋고 주거 공간이 더 클 때 가격은 더 많이 상승함을 알 수 있다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8A0962-AF46-90F8-01EA-B197C778D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81181"/>
            <a:ext cx="4377587" cy="464289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1A9B4B-8A38-4EDB-4941-0EB4A658FA19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C9FBB-9387-1012-860F-E098F3C01791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146D30-8D28-AD37-58AF-508EC9C9B0E8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999A29-33C1-7A44-7741-0C878D1F1783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16C202-1E3E-6EB3-C510-AFAFB1FCF262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C00343-1170-303C-ECD7-130A109485E7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4AEE6D2-506B-F79F-FC00-1DDFB2148DF0}"/>
              </a:ext>
            </a:extLst>
          </p:cNvPr>
          <p:cNvSpPr/>
          <p:nvPr/>
        </p:nvSpPr>
        <p:spPr>
          <a:xfrm>
            <a:off x="-9283" y="1318108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직각 삼각형 32">
            <a:extLst>
              <a:ext uri="{FF2B5EF4-FFF2-40B4-BE49-F238E27FC236}">
                <a16:creationId xmlns:a16="http://schemas.microsoft.com/office/drawing/2014/main" id="{4F4DFD22-3C20-23B5-A86B-336D0F990871}"/>
              </a:ext>
            </a:extLst>
          </p:cNvPr>
          <p:cNvSpPr/>
          <p:nvPr/>
        </p:nvSpPr>
        <p:spPr>
          <a:xfrm rot="5400000">
            <a:off x="702755" y="1648182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15A908-5E9E-4367-A564-0AB175E0153C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E36D4A-40D7-8E84-5F4C-4E117D332560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308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AAB327-97B5-427B-AD6E-32E422A79822}"/>
              </a:ext>
            </a:extLst>
          </p:cNvPr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CC06D4-FDD1-ED9E-B779-BD9306BD3D2C}"/>
              </a:ext>
            </a:extLst>
          </p:cNvPr>
          <p:cNvSpPr txBox="1"/>
          <p:nvPr/>
        </p:nvSpPr>
        <p:spPr>
          <a:xfrm>
            <a:off x="1692847" y="4770490"/>
            <a:ext cx="648071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랜덤포레스트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테스트 데이터 셋에서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10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개의 데이터를 뽑은 결과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빨간색이 절대적 영향이 높은 것이고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보라색은 절대적 영향이 낮은 것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연식이 오래된 주택일수록 가격 하락에 절대적 영향이 높았다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EE9158-0D45-D79A-08D7-DC501E4C3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555" y="931283"/>
            <a:ext cx="5374890" cy="383920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F8350B-84DC-9407-AA1C-017747839349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7DE921-B282-ECF8-B8E7-8660BAA36521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FE776B-C821-D841-3233-4738F95DDBEF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216A1A-A592-AE2A-DFF3-5004251842E8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82B8D2-6DA9-DD3A-6875-E5B6A7E23A68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3AB88A-454D-3677-0EBB-A1965E5277CE}"/>
              </a:ext>
            </a:extLst>
          </p:cNvPr>
          <p:cNvSpPr/>
          <p:nvPr/>
        </p:nvSpPr>
        <p:spPr>
          <a:xfrm>
            <a:off x="-9283" y="1805386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직각 삼각형 31">
            <a:extLst>
              <a:ext uri="{FF2B5EF4-FFF2-40B4-BE49-F238E27FC236}">
                <a16:creationId xmlns:a16="http://schemas.microsoft.com/office/drawing/2014/main" id="{49CA1C1B-B976-C6E3-837E-441AA652FFAB}"/>
              </a:ext>
            </a:extLst>
          </p:cNvPr>
          <p:cNvSpPr/>
          <p:nvPr/>
        </p:nvSpPr>
        <p:spPr>
          <a:xfrm rot="5400000">
            <a:off x="702755" y="2135460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33ECD4-4069-E3B4-C2D9-9FA506936F97}"/>
              </a:ext>
            </a:extLst>
          </p:cNvPr>
          <p:cNvSpPr txBox="1"/>
          <p:nvPr/>
        </p:nvSpPr>
        <p:spPr>
          <a:xfrm>
            <a:off x="107504" y="1819563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C0AB93-417C-7AA1-3B3C-D3571FC28A03}"/>
              </a:ext>
            </a:extLst>
          </p:cNvPr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ED0D67-BD83-8498-B1CC-0866FC519C2F}"/>
              </a:ext>
            </a:extLst>
          </p:cNvPr>
          <p:cNvSpPr txBox="1"/>
          <p:nvPr/>
        </p:nvSpPr>
        <p:spPr>
          <a:xfrm>
            <a:off x="107504" y="1340768"/>
            <a:ext cx="450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9664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EA9445-4A3E-4EE4-A302-C2D487C5DB90}"/>
              </a:ext>
            </a:extLst>
          </p:cNvPr>
          <p:cNvSpPr/>
          <p:nvPr/>
        </p:nvSpPr>
        <p:spPr>
          <a:xfrm>
            <a:off x="-6883" y="0"/>
            <a:ext cx="9150883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A3C737-5297-4245-A4C1-62C98AE746DC}"/>
              </a:ext>
            </a:extLst>
          </p:cNvPr>
          <p:cNvGrpSpPr/>
          <p:nvPr/>
        </p:nvGrpSpPr>
        <p:grpSpPr>
          <a:xfrm>
            <a:off x="2965387" y="2996951"/>
            <a:ext cx="3159440" cy="873039"/>
            <a:chOff x="3720990" y="3152001"/>
            <a:chExt cx="1710368" cy="827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2EED62-4CFB-40F0-BFBC-C4C6CD6F48A1}"/>
                </a:ext>
              </a:extLst>
            </p:cNvPr>
            <p:cNvSpPr txBox="1"/>
            <p:nvPr/>
          </p:nvSpPr>
          <p:spPr>
            <a:xfrm>
              <a:off x="3720990" y="3152001"/>
              <a:ext cx="1710368" cy="525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000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결론</a:t>
              </a:r>
              <a:endParaRPr lang="en-US" altLang="ko-KR" sz="3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58B8CD-2B2B-4B2B-A0FC-64C6B1082CFC}"/>
                </a:ext>
              </a:extLst>
            </p:cNvPr>
            <p:cNvSpPr txBox="1"/>
            <p:nvPr/>
          </p:nvSpPr>
          <p:spPr>
            <a:xfrm>
              <a:off x="3720990" y="3629471"/>
              <a:ext cx="1710368" cy="350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n>
                    <a:solidFill>
                      <a:schemeClr val="bg1">
                        <a:lumMod val="85000"/>
                        <a:alpha val="30000"/>
                      </a:schemeClr>
                    </a:solidFill>
                  </a:ln>
                  <a:solidFill>
                    <a:schemeClr val="bg1">
                      <a:lumMod val="95000"/>
                    </a:schemeClr>
                  </a:solidFill>
                  <a:latin typeface="YD윤고딕 520" panose="02020603020101020101" pitchFamily="18" charset="-127"/>
                  <a:ea typeface="YD윤고딕 520" panose="02020603020101020101" pitchFamily="18" charset="-127"/>
                </a:rPr>
                <a:t>Result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24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/>
          <p:cNvCxnSpPr/>
          <p:nvPr/>
        </p:nvCxnSpPr>
        <p:spPr>
          <a:xfrm>
            <a:off x="683568" y="-371068"/>
            <a:ext cx="0" cy="7472476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>
            <a:off x="692540" y="548680"/>
            <a:ext cx="9295796" cy="0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-9283" y="886789"/>
            <a:ext cx="834325" cy="343501"/>
          </a:xfrm>
          <a:prstGeom prst="rect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9" name="직각 삼각형 8"/>
          <p:cNvSpPr/>
          <p:nvPr/>
        </p:nvSpPr>
        <p:spPr>
          <a:xfrm rot="5400000">
            <a:off x="702755" y="1216863"/>
            <a:ext cx="81142" cy="108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549" y="882386"/>
            <a:ext cx="541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01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CFD912F-1E46-4255-AE3A-6EB216A6D162}"/>
              </a:ext>
            </a:extLst>
          </p:cNvPr>
          <p:cNvSpPr/>
          <p:nvPr/>
        </p:nvSpPr>
        <p:spPr>
          <a:xfrm>
            <a:off x="1921424" y="793233"/>
            <a:ext cx="2880320" cy="312274"/>
          </a:xfrm>
          <a:prstGeom prst="rect">
            <a:avLst/>
          </a:prstGeom>
          <a:solidFill>
            <a:srgbClr val="7AB53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A04737-B8C8-4A59-BD8A-876E7BEBB316}"/>
              </a:ext>
            </a:extLst>
          </p:cNvPr>
          <p:cNvSpPr txBox="1"/>
          <p:nvPr/>
        </p:nvSpPr>
        <p:spPr>
          <a:xfrm>
            <a:off x="1907704" y="764704"/>
            <a:ext cx="290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어떤 주택이 비쌀까</a:t>
            </a:r>
            <a:r>
              <a:rPr lang="en-US" altLang="ko-KR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sp>
        <p:nvSpPr>
          <p:cNvPr id="30" name="갈매기형 수장 36">
            <a:extLst>
              <a:ext uri="{FF2B5EF4-FFF2-40B4-BE49-F238E27FC236}">
                <a16:creationId xmlns:a16="http://schemas.microsoft.com/office/drawing/2014/main" id="{C29309D1-73C1-43C9-AE45-294172341F0A}"/>
              </a:ext>
            </a:extLst>
          </p:cNvPr>
          <p:cNvSpPr/>
          <p:nvPr/>
        </p:nvSpPr>
        <p:spPr>
          <a:xfrm>
            <a:off x="1623307" y="85699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1" name="갈매기형 수장 37">
            <a:extLst>
              <a:ext uri="{FF2B5EF4-FFF2-40B4-BE49-F238E27FC236}">
                <a16:creationId xmlns:a16="http://schemas.microsoft.com/office/drawing/2014/main" id="{F4B4F2AB-CC5D-42D5-87DC-1BF24F82D4A4}"/>
              </a:ext>
            </a:extLst>
          </p:cNvPr>
          <p:cNvSpPr/>
          <p:nvPr/>
        </p:nvSpPr>
        <p:spPr>
          <a:xfrm>
            <a:off x="1475656" y="856994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8D2A80-0E99-4EC1-87EE-8D9181609220}"/>
              </a:ext>
            </a:extLst>
          </p:cNvPr>
          <p:cNvSpPr txBox="1"/>
          <p:nvPr/>
        </p:nvSpPr>
        <p:spPr>
          <a:xfrm>
            <a:off x="1901582" y="1162565"/>
            <a:ext cx="580032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등급 점수가 높은 것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연식이 오래되지 않은 것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주거 면적이 넓은 곳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주거 면적이 충분하게 보장되어 있는 이웃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=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입지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F56DDF5-7DE0-57B9-F0C6-E3DC53D65C45}"/>
              </a:ext>
            </a:extLst>
          </p:cNvPr>
          <p:cNvSpPr/>
          <p:nvPr/>
        </p:nvSpPr>
        <p:spPr>
          <a:xfrm>
            <a:off x="1941266" y="3479020"/>
            <a:ext cx="2880320" cy="312274"/>
          </a:xfrm>
          <a:prstGeom prst="rect">
            <a:avLst/>
          </a:prstGeom>
          <a:solidFill>
            <a:srgbClr val="7AB53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5B122-8056-3916-368E-B9F22D6183C8}"/>
              </a:ext>
            </a:extLst>
          </p:cNvPr>
          <p:cNvSpPr txBox="1"/>
          <p:nvPr/>
        </p:nvSpPr>
        <p:spPr>
          <a:xfrm>
            <a:off x="1927546" y="3450491"/>
            <a:ext cx="290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어떤 모델이 좋을까</a:t>
            </a:r>
            <a:r>
              <a:rPr lang="en-US" altLang="ko-KR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?</a:t>
            </a:r>
          </a:p>
        </p:txBody>
      </p:sp>
      <p:sp>
        <p:nvSpPr>
          <p:cNvPr id="29" name="갈매기형 수장 36">
            <a:extLst>
              <a:ext uri="{FF2B5EF4-FFF2-40B4-BE49-F238E27FC236}">
                <a16:creationId xmlns:a16="http://schemas.microsoft.com/office/drawing/2014/main" id="{6A76F0B5-FFAD-DB77-1BE3-A2C8909C1CC3}"/>
              </a:ext>
            </a:extLst>
          </p:cNvPr>
          <p:cNvSpPr/>
          <p:nvPr/>
        </p:nvSpPr>
        <p:spPr>
          <a:xfrm>
            <a:off x="1643149" y="354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3" name="갈매기형 수장 37">
            <a:extLst>
              <a:ext uri="{FF2B5EF4-FFF2-40B4-BE49-F238E27FC236}">
                <a16:creationId xmlns:a16="http://schemas.microsoft.com/office/drawing/2014/main" id="{D6CE01AD-FB00-44BC-1BBF-2079B980F108}"/>
              </a:ext>
            </a:extLst>
          </p:cNvPr>
          <p:cNvSpPr/>
          <p:nvPr/>
        </p:nvSpPr>
        <p:spPr>
          <a:xfrm>
            <a:off x="1495498" y="3542781"/>
            <a:ext cx="140381" cy="154419"/>
          </a:xfrm>
          <a:prstGeom prst="chevron">
            <a:avLst/>
          </a:prstGeom>
          <a:solidFill>
            <a:srgbClr val="272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411FCD-A7A9-55D0-A021-D95807E10082}"/>
              </a:ext>
            </a:extLst>
          </p:cNvPr>
          <p:cNvSpPr txBox="1"/>
          <p:nvPr/>
        </p:nvSpPr>
        <p:spPr>
          <a:xfrm>
            <a:off x="1901581" y="3819823"/>
            <a:ext cx="677487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릿지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K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군집 회귀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, </a:t>
            </a: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랜덤포레스트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회귀 모두 우수한 성능 발휘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Test set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평균절대오차 점수 기준 낮은 순서대로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랜덤포레스트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&gt; </a:t>
            </a: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릿지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&gt; K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군집회귀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PDP, interaction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plot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통해서 </a:t>
            </a:r>
            <a:r>
              <a:rPr lang="ko-KR" altLang="en-US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예측값에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대한 각 특성 변수 설명력 증명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ko-KR" sz="16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Shap</a:t>
            </a:r>
            <a:r>
              <a: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통해서 관측치에 대한 특성 변수 설명력 증명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14256-6CC8-AFF3-CE5A-87E86CA68910}"/>
              </a:ext>
            </a:extLst>
          </p:cNvPr>
          <p:cNvSpPr txBox="1"/>
          <p:nvPr/>
        </p:nvSpPr>
        <p:spPr>
          <a:xfrm>
            <a:off x="1043608" y="13848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데이터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전처리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795EC8-9E4D-6C65-162A-BF66EF3878F1}"/>
              </a:ext>
            </a:extLst>
          </p:cNvPr>
          <p:cNvSpPr txBox="1"/>
          <p:nvPr/>
        </p:nvSpPr>
        <p:spPr>
          <a:xfrm>
            <a:off x="2641974" y="138482"/>
            <a:ext cx="13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기준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E4C9BB-4FCA-5E13-42F7-86EFBD753727}"/>
              </a:ext>
            </a:extLst>
          </p:cNvPr>
          <p:cNvSpPr txBox="1"/>
          <p:nvPr/>
        </p:nvSpPr>
        <p:spPr>
          <a:xfrm>
            <a:off x="4177124" y="138482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실행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D7E27B-77A2-28F0-F743-91AB28BB0C6C}"/>
              </a:ext>
            </a:extLst>
          </p:cNvPr>
          <p:cNvSpPr txBox="1"/>
          <p:nvPr/>
        </p:nvSpPr>
        <p:spPr>
          <a:xfrm>
            <a:off x="5843187" y="142121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모델 해석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364910-40F5-10D2-9EDB-5A3C51B992CF}"/>
              </a:ext>
            </a:extLst>
          </p:cNvPr>
          <p:cNvSpPr txBox="1"/>
          <p:nvPr/>
        </p:nvSpPr>
        <p:spPr>
          <a:xfrm>
            <a:off x="7340655" y="144243"/>
            <a:ext cx="1512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272123"/>
                </a:solidFill>
                <a:latin typeface="YD윤고딕 520" panose="02020603020101020101" pitchFamily="18" charset="-127"/>
                <a:ea typeface="YD윤고딕 520" panose="02020603020101020101" pitchFamily="18" charset="-127"/>
              </a:rPr>
              <a:t>결론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272123"/>
              </a:solidFill>
              <a:latin typeface="YD윤고딕 520" panose="02020603020101020101" pitchFamily="18" charset="-127"/>
              <a:ea typeface="YD윤고딕 52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12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862</Words>
  <Application>Microsoft Office PowerPoint</Application>
  <PresentationFormat>화면 슬라이드 쇼(4:3)</PresentationFormat>
  <Paragraphs>267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YD윤고딕 520</vt:lpstr>
      <vt:lpstr>Wingdings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</dc:creator>
  <cp:lastModifiedBy>Joshua Kim</cp:lastModifiedBy>
  <cp:revision>180</cp:revision>
  <dcterms:created xsi:type="dcterms:W3CDTF">2013-09-05T09:43:46Z</dcterms:created>
  <dcterms:modified xsi:type="dcterms:W3CDTF">2022-05-25T03:20:08Z</dcterms:modified>
</cp:coreProperties>
</file>